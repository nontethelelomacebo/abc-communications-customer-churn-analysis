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3AE37-EB14-4CBE-BCF0-101106E03669}" v="42" dt="2026-08-09T09:29:26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50" d="100"/>
          <a:sy n="50" d="100"/>
        </p:scale>
        <p:origin x="4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ntethelelo Baleni" userId="04eaa84f6b07ff88" providerId="LiveId" clId="{C84594F1-D0B8-4519-9FCF-CBD62C8740FE}"/>
    <pc:docChg chg="undo custSel modSld modMainMaster">
      <pc:chgData name="Nontethelelo Baleni" userId="04eaa84f6b07ff88" providerId="LiveId" clId="{C84594F1-D0B8-4519-9FCF-CBD62C8740FE}" dt="2026-08-09T09:30:01.064" v="104" actId="26606"/>
      <pc:docMkLst>
        <pc:docMk/>
      </pc:docMkLst>
      <pc:sldChg chg="addSp delSp modSp mod setBg modClrScheme delDesignElem chgLayout">
        <pc:chgData name="Nontethelelo Baleni" userId="04eaa84f6b07ff88" providerId="LiveId" clId="{C84594F1-D0B8-4519-9FCF-CBD62C8740FE}" dt="2026-08-09T09:30:01.064" v="104" actId="26606"/>
        <pc:sldMkLst>
          <pc:docMk/>
          <pc:sldMk cId="2402014147" sldId="256"/>
        </pc:sldMkLst>
        <pc:spChg chg="del mod">
          <ac:chgData name="Nontethelelo Baleni" userId="04eaa84f6b07ff88" providerId="LiveId" clId="{C84594F1-D0B8-4519-9FCF-CBD62C8740FE}" dt="2026-08-09T09:20:26.825" v="71" actId="478"/>
          <ac:spMkLst>
            <pc:docMk/>
            <pc:sldMk cId="2402014147" sldId="256"/>
            <ac:spMk id="5" creationId="{CBEEE6B8-DA9E-4100-DE1D-6972567ED3A4}"/>
          </ac:spMkLst>
        </pc:spChg>
        <pc:spChg chg="mod ord">
          <ac:chgData name="Nontethelelo Baleni" userId="04eaa84f6b07ff88" providerId="LiveId" clId="{C84594F1-D0B8-4519-9FCF-CBD62C8740FE}" dt="2026-08-09T09:30:01.064" v="104" actId="26606"/>
          <ac:spMkLst>
            <pc:docMk/>
            <pc:sldMk cId="2402014147" sldId="256"/>
            <ac:spMk id="7" creationId="{DCBC6346-DDA3-BF32-CB84-CDDF15925051}"/>
          </ac:spMkLst>
        </pc:spChg>
        <pc:spChg chg="mod ord">
          <ac:chgData name="Nontethelelo Baleni" userId="04eaa84f6b07ff88" providerId="LiveId" clId="{C84594F1-D0B8-4519-9FCF-CBD62C8740FE}" dt="2026-08-09T09:30:01.064" v="104" actId="26606"/>
          <ac:spMkLst>
            <pc:docMk/>
            <pc:sldMk cId="2402014147" sldId="256"/>
            <ac:spMk id="9" creationId="{4A7F0E12-C3A6-D9F8-C5E1-9A8803F8C1A3}"/>
          </ac:spMkLst>
        </pc:spChg>
        <pc:spChg chg="add del mod">
          <ac:chgData name="Nontethelelo Baleni" userId="04eaa84f6b07ff88" providerId="LiveId" clId="{C84594F1-D0B8-4519-9FCF-CBD62C8740FE}" dt="2026-08-09T09:20:44.073" v="74" actId="478"/>
          <ac:spMkLst>
            <pc:docMk/>
            <pc:sldMk cId="2402014147" sldId="256"/>
            <ac:spMk id="12" creationId="{40627D49-8B65-F02D-2A49-EFD103E965DC}"/>
          </ac:spMkLst>
        </pc:spChg>
        <pc:spChg chg="add del mod ord">
          <ac:chgData name="Nontethelelo Baleni" userId="04eaa84f6b07ff88" providerId="LiveId" clId="{C84594F1-D0B8-4519-9FCF-CBD62C8740FE}" dt="2026-08-09T09:30:01.064" v="104" actId="26606"/>
          <ac:spMkLst>
            <pc:docMk/>
            <pc:sldMk cId="2402014147" sldId="256"/>
            <ac:spMk id="13" creationId="{3A9C24CE-1EAC-69D4-A764-CEF3B3755000}"/>
          </ac:spMkLst>
        </pc:spChg>
        <pc:spChg chg="add del mod ord">
          <ac:chgData name="Nontethelelo Baleni" userId="04eaa84f6b07ff88" providerId="LiveId" clId="{C84594F1-D0B8-4519-9FCF-CBD62C8740FE}" dt="2026-08-09T09:30:01.064" v="104" actId="26606"/>
          <ac:spMkLst>
            <pc:docMk/>
            <pc:sldMk cId="2402014147" sldId="256"/>
            <ac:spMk id="14" creationId="{7B315675-C1F6-4AEE-BA50-68713D0E3C96}"/>
          </ac:spMkLst>
        </pc:spChg>
        <pc:spChg chg="add del">
          <ac:chgData name="Nontethelelo Baleni" userId="04eaa84f6b07ff88" providerId="LiveId" clId="{C84594F1-D0B8-4519-9FCF-CBD62C8740FE}" dt="2026-08-09T09:24:30.019" v="93"/>
          <ac:spMkLst>
            <pc:docMk/>
            <pc:sldMk cId="2402014147" sldId="256"/>
            <ac:spMk id="15" creationId="{4D60F200-5EB0-B223-2439-C96C67F0FEE1}"/>
          </ac:spMkLst>
        </pc:spChg>
        <pc:spChg chg="add del mod ord">
          <ac:chgData name="Nontethelelo Baleni" userId="04eaa84f6b07ff88" providerId="LiveId" clId="{C84594F1-D0B8-4519-9FCF-CBD62C8740FE}" dt="2026-08-09T09:30:01.064" v="104" actId="26606"/>
          <ac:spMkLst>
            <pc:docMk/>
            <pc:sldMk cId="2402014147" sldId="256"/>
            <ac:spMk id="16" creationId="{BBA8B0C0-905B-CBBF-9B0C-30E447AC35B3}"/>
          </ac:spMkLst>
        </pc:spChg>
        <pc:spChg chg="add del">
          <ac:chgData name="Nontethelelo Baleni" userId="04eaa84f6b07ff88" providerId="LiveId" clId="{C84594F1-D0B8-4519-9FCF-CBD62C8740FE}" dt="2026-08-09T09:24:30.019" v="93"/>
          <ac:spMkLst>
            <pc:docMk/>
            <pc:sldMk cId="2402014147" sldId="256"/>
            <ac:spMk id="17" creationId="{1740453C-744F-DB3A-47EC-15EACE1DC117}"/>
          </ac:spMkLst>
        </pc:spChg>
        <pc:spChg chg="add del">
          <ac:chgData name="Nontethelelo Baleni" userId="04eaa84f6b07ff88" providerId="LiveId" clId="{C84594F1-D0B8-4519-9FCF-CBD62C8740FE}" dt="2026-08-09T09:24:30.019" v="93"/>
          <ac:spMkLst>
            <pc:docMk/>
            <pc:sldMk cId="2402014147" sldId="256"/>
            <ac:spMk id="19" creationId="{336537A4-07E4-0E22-D14E-018FE569F2CC}"/>
          </ac:spMkLst>
        </pc:spChg>
        <pc:spChg chg="add del">
          <ac:chgData name="Nontethelelo Baleni" userId="04eaa84f6b07ff88" providerId="LiveId" clId="{C84594F1-D0B8-4519-9FCF-CBD62C8740FE}" dt="2026-08-09T09:24:30.019" v="93"/>
          <ac:spMkLst>
            <pc:docMk/>
            <pc:sldMk cId="2402014147" sldId="256"/>
            <ac:spMk id="21" creationId="{62DF39DD-D69A-31B8-53C1-94595DDDBC5F}"/>
          </ac:spMkLst>
        </pc:spChg>
        <pc:spChg chg="add del">
          <ac:chgData name="Nontethelelo Baleni" userId="04eaa84f6b07ff88" providerId="LiveId" clId="{C84594F1-D0B8-4519-9FCF-CBD62C8740FE}" dt="2026-08-09T09:24:30.019" v="93"/>
          <ac:spMkLst>
            <pc:docMk/>
            <pc:sldMk cId="2402014147" sldId="256"/>
            <ac:spMk id="23" creationId="{01EB5855-8EB7-1AE5-9030-5D0AA3C1AF4B}"/>
          </ac:spMkLst>
        </pc:spChg>
        <pc:spChg chg="add del">
          <ac:chgData name="Nontethelelo Baleni" userId="04eaa84f6b07ff88" providerId="LiveId" clId="{C84594F1-D0B8-4519-9FCF-CBD62C8740FE}" dt="2026-08-09T09:24:30.019" v="93"/>
          <ac:spMkLst>
            <pc:docMk/>
            <pc:sldMk cId="2402014147" sldId="256"/>
            <ac:spMk id="25" creationId="{1031A9CD-7DCC-4A2F-A3A5-54F91317F7BA}"/>
          </ac:spMkLst>
        </pc:spChg>
        <pc:picChg chg="add mod ord">
          <ac:chgData name="Nontethelelo Baleni" userId="04eaa84f6b07ff88" providerId="LiveId" clId="{C84594F1-D0B8-4519-9FCF-CBD62C8740FE}" dt="2026-08-09T09:30:01.064" v="104" actId="26606"/>
          <ac:picMkLst>
            <pc:docMk/>
            <pc:sldMk cId="2402014147" sldId="256"/>
            <ac:picMk id="11" creationId="{27D86474-B079-8FCB-2597-47AE3B4559C7}"/>
          </ac:picMkLst>
        </pc:picChg>
      </pc:sldChg>
      <pc:sldChg chg="addSp delSp mod">
        <pc:chgData name="Nontethelelo Baleni" userId="04eaa84f6b07ff88" providerId="LiveId" clId="{C84594F1-D0B8-4519-9FCF-CBD62C8740FE}" dt="2026-08-09T09:28:39.542" v="95" actId="478"/>
        <pc:sldMkLst>
          <pc:docMk/>
          <pc:sldMk cId="918928246" sldId="257"/>
        </pc:sldMkLst>
        <pc:spChg chg="add del">
          <ac:chgData name="Nontethelelo Baleni" userId="04eaa84f6b07ff88" providerId="LiveId" clId="{C84594F1-D0B8-4519-9FCF-CBD62C8740FE}" dt="2026-08-09T09:28:39.542" v="95" actId="478"/>
          <ac:spMkLst>
            <pc:docMk/>
            <pc:sldMk cId="918928246" sldId="257"/>
            <ac:spMk id="8" creationId="{459A01BC-F0D5-6E97-DB7D-034D0EEF9DA1}"/>
          </ac:spMkLst>
        </pc:spChg>
      </pc:sldChg>
      <pc:sldChg chg="addSp modSp mod">
        <pc:chgData name="Nontethelelo Baleni" userId="04eaa84f6b07ff88" providerId="LiveId" clId="{C84594F1-D0B8-4519-9FCF-CBD62C8740FE}" dt="2026-08-09T09:05:40.944" v="11" actId="1076"/>
        <pc:sldMkLst>
          <pc:docMk/>
          <pc:sldMk cId="1711683801" sldId="258"/>
        </pc:sldMkLst>
        <pc:spChg chg="mod">
          <ac:chgData name="Nontethelelo Baleni" userId="04eaa84f6b07ff88" providerId="LiveId" clId="{C84594F1-D0B8-4519-9FCF-CBD62C8740FE}" dt="2026-08-09T09:05:20.973" v="7" actId="1076"/>
          <ac:spMkLst>
            <pc:docMk/>
            <pc:sldMk cId="1711683801" sldId="258"/>
            <ac:spMk id="8" creationId="{1DCF2397-DCCA-22F8-944C-F9C776AD292C}"/>
          </ac:spMkLst>
        </pc:spChg>
        <pc:graphicFrameChg chg="add mod">
          <ac:chgData name="Nontethelelo Baleni" userId="04eaa84f6b07ff88" providerId="LiveId" clId="{C84594F1-D0B8-4519-9FCF-CBD62C8740FE}" dt="2026-08-09T09:05:40.944" v="11" actId="1076"/>
          <ac:graphicFrameMkLst>
            <pc:docMk/>
            <pc:sldMk cId="1711683801" sldId="258"/>
            <ac:graphicFrameMk id="10" creationId="{841CDAD3-1A9E-8638-8375-0D8B269B4495}"/>
          </ac:graphicFrameMkLst>
        </pc:graphicFrameChg>
      </pc:sldChg>
      <pc:sldChg chg="addSp delSp modSp mod">
        <pc:chgData name="Nontethelelo Baleni" userId="04eaa84f6b07ff88" providerId="LiveId" clId="{C84594F1-D0B8-4519-9FCF-CBD62C8740FE}" dt="2026-08-09T09:08:51.369" v="26" actId="14100"/>
        <pc:sldMkLst>
          <pc:docMk/>
          <pc:sldMk cId="3718222671" sldId="259"/>
        </pc:sldMkLst>
        <pc:spChg chg="mod">
          <ac:chgData name="Nontethelelo Baleni" userId="04eaa84f6b07ff88" providerId="LiveId" clId="{C84594F1-D0B8-4519-9FCF-CBD62C8740FE}" dt="2026-08-09T09:07:20.180" v="16" actId="1076"/>
          <ac:spMkLst>
            <pc:docMk/>
            <pc:sldMk cId="3718222671" sldId="259"/>
            <ac:spMk id="3" creationId="{0F0A5C69-ECCB-EAF0-28D3-88C9ADF823EE}"/>
          </ac:spMkLst>
        </pc:spChg>
        <pc:spChg chg="mod">
          <ac:chgData name="Nontethelelo Baleni" userId="04eaa84f6b07ff88" providerId="LiveId" clId="{C84594F1-D0B8-4519-9FCF-CBD62C8740FE}" dt="2026-08-09T09:07:29.351" v="17" actId="1076"/>
          <ac:spMkLst>
            <pc:docMk/>
            <pc:sldMk cId="3718222671" sldId="259"/>
            <ac:spMk id="4" creationId="{02C600F0-7103-3E94-7719-4AC23A9EFDCD}"/>
          </ac:spMkLst>
        </pc:spChg>
        <pc:spChg chg="add del mod">
          <ac:chgData name="Nontethelelo Baleni" userId="04eaa84f6b07ff88" providerId="LiveId" clId="{C84594F1-D0B8-4519-9FCF-CBD62C8740FE}" dt="2026-08-09T09:07:30.125" v="19"/>
          <ac:spMkLst>
            <pc:docMk/>
            <pc:sldMk cId="3718222671" sldId="259"/>
            <ac:spMk id="5" creationId="{FCF565E0-91AD-6AE6-2AAC-5E5CF9B4AEF8}"/>
          </ac:spMkLst>
        </pc:spChg>
        <pc:graphicFrameChg chg="add mod">
          <ac:chgData name="Nontethelelo Baleni" userId="04eaa84f6b07ff88" providerId="LiveId" clId="{C84594F1-D0B8-4519-9FCF-CBD62C8740FE}" dt="2026-08-09T09:08:38.928" v="24" actId="1076"/>
          <ac:graphicFrameMkLst>
            <pc:docMk/>
            <pc:sldMk cId="3718222671" sldId="259"/>
            <ac:graphicFrameMk id="6" creationId="{3F9685C1-35C5-1BE7-C646-28B7585A7DE0}"/>
          </ac:graphicFrameMkLst>
        </pc:graphicFrameChg>
        <pc:graphicFrameChg chg="add mod">
          <ac:chgData name="Nontethelelo Baleni" userId="04eaa84f6b07ff88" providerId="LiveId" clId="{C84594F1-D0B8-4519-9FCF-CBD62C8740FE}" dt="2026-08-09T09:08:51.369" v="26" actId="14100"/>
          <ac:graphicFrameMkLst>
            <pc:docMk/>
            <pc:sldMk cId="3718222671" sldId="259"/>
            <ac:graphicFrameMk id="7" creationId="{82D2EE1E-E44A-0CAD-7186-5F81C181AA35}"/>
          </ac:graphicFrameMkLst>
        </pc:graphicFrameChg>
      </pc:sldChg>
      <pc:sldChg chg="addSp modSp mod">
        <pc:chgData name="Nontethelelo Baleni" userId="04eaa84f6b07ff88" providerId="LiveId" clId="{C84594F1-D0B8-4519-9FCF-CBD62C8740FE}" dt="2026-08-09T09:12:09.095" v="35" actId="1076"/>
        <pc:sldMkLst>
          <pc:docMk/>
          <pc:sldMk cId="1074274875" sldId="260"/>
        </pc:sldMkLst>
        <pc:spChg chg="mod">
          <ac:chgData name="Nontethelelo Baleni" userId="04eaa84f6b07ff88" providerId="LiveId" clId="{C84594F1-D0B8-4519-9FCF-CBD62C8740FE}" dt="2026-08-09T09:11:08.742" v="30" actId="1076"/>
          <ac:spMkLst>
            <pc:docMk/>
            <pc:sldMk cId="1074274875" sldId="260"/>
            <ac:spMk id="4" creationId="{13ECDB2C-8079-2938-592E-764CE62B3FC2}"/>
          </ac:spMkLst>
        </pc:spChg>
        <pc:spChg chg="mod">
          <ac:chgData name="Nontethelelo Baleni" userId="04eaa84f6b07ff88" providerId="LiveId" clId="{C84594F1-D0B8-4519-9FCF-CBD62C8740FE}" dt="2026-08-09T09:11:18.066" v="32" actId="1076"/>
          <ac:spMkLst>
            <pc:docMk/>
            <pc:sldMk cId="1074274875" sldId="260"/>
            <ac:spMk id="5" creationId="{6B263D79-6E29-59DA-56C6-0C75B95AB796}"/>
          </ac:spMkLst>
        </pc:spChg>
        <pc:graphicFrameChg chg="add mod">
          <ac:chgData name="Nontethelelo Baleni" userId="04eaa84f6b07ff88" providerId="LiveId" clId="{C84594F1-D0B8-4519-9FCF-CBD62C8740FE}" dt="2026-08-09T09:11:12.458" v="31" actId="1076"/>
          <ac:graphicFrameMkLst>
            <pc:docMk/>
            <pc:sldMk cId="1074274875" sldId="260"/>
            <ac:graphicFrameMk id="6" creationId="{FAE8695E-3923-6C39-A010-0AD486828D45}"/>
          </ac:graphicFrameMkLst>
        </pc:graphicFrameChg>
        <pc:graphicFrameChg chg="add mod">
          <ac:chgData name="Nontethelelo Baleni" userId="04eaa84f6b07ff88" providerId="LiveId" clId="{C84594F1-D0B8-4519-9FCF-CBD62C8740FE}" dt="2026-08-09T09:12:09.095" v="35" actId="1076"/>
          <ac:graphicFrameMkLst>
            <pc:docMk/>
            <pc:sldMk cId="1074274875" sldId="260"/>
            <ac:graphicFrameMk id="7" creationId="{14437349-4D66-D087-2432-EED92EC7FE94}"/>
          </ac:graphicFrameMkLst>
        </pc:graphicFrameChg>
      </pc:sldChg>
      <pc:sldChg chg="addSp delSp modSp mod">
        <pc:chgData name="Nontethelelo Baleni" userId="04eaa84f6b07ff88" providerId="LiveId" clId="{C84594F1-D0B8-4519-9FCF-CBD62C8740FE}" dt="2026-08-09T09:18:07.043" v="61" actId="1076"/>
        <pc:sldMkLst>
          <pc:docMk/>
          <pc:sldMk cId="1510257611" sldId="261"/>
        </pc:sldMkLst>
        <pc:spChg chg="mod">
          <ac:chgData name="Nontethelelo Baleni" userId="04eaa84f6b07ff88" providerId="LiveId" clId="{C84594F1-D0B8-4519-9FCF-CBD62C8740FE}" dt="2026-08-09T09:15:20.636" v="44" actId="255"/>
          <ac:spMkLst>
            <pc:docMk/>
            <pc:sldMk cId="1510257611" sldId="261"/>
            <ac:spMk id="3" creationId="{7747D184-B463-382A-01FC-74D566D4168D}"/>
          </ac:spMkLst>
        </pc:spChg>
        <pc:spChg chg="mod">
          <ac:chgData name="Nontethelelo Baleni" userId="04eaa84f6b07ff88" providerId="LiveId" clId="{C84594F1-D0B8-4519-9FCF-CBD62C8740FE}" dt="2026-08-09T09:15:25.243" v="45" actId="255"/>
          <ac:spMkLst>
            <pc:docMk/>
            <pc:sldMk cId="1510257611" sldId="261"/>
            <ac:spMk id="4" creationId="{7B7494D0-650B-2FAF-141F-F77F7922B46B}"/>
          </ac:spMkLst>
        </pc:spChg>
        <pc:spChg chg="mod">
          <ac:chgData name="Nontethelelo Baleni" userId="04eaa84f6b07ff88" providerId="LiveId" clId="{C84594F1-D0B8-4519-9FCF-CBD62C8740FE}" dt="2026-08-09T09:15:30.324" v="46" actId="1076"/>
          <ac:spMkLst>
            <pc:docMk/>
            <pc:sldMk cId="1510257611" sldId="261"/>
            <ac:spMk id="5" creationId="{594FA06B-194E-6B8E-2A3A-93F1D7715430}"/>
          </ac:spMkLst>
        </pc:spChg>
        <pc:graphicFrameChg chg="add del mod modGraphic">
          <ac:chgData name="Nontethelelo Baleni" userId="04eaa84f6b07ff88" providerId="LiveId" clId="{C84594F1-D0B8-4519-9FCF-CBD62C8740FE}" dt="2026-08-09T09:17:18.231" v="53" actId="478"/>
          <ac:graphicFrameMkLst>
            <pc:docMk/>
            <pc:sldMk cId="1510257611" sldId="261"/>
            <ac:graphicFrameMk id="6" creationId="{8B5F8831-23E8-AD98-FBE1-1707FA776814}"/>
          </ac:graphicFrameMkLst>
        </pc:graphicFrameChg>
        <pc:graphicFrameChg chg="add del mod modGraphic">
          <ac:chgData name="Nontethelelo Baleni" userId="04eaa84f6b07ff88" providerId="LiveId" clId="{C84594F1-D0B8-4519-9FCF-CBD62C8740FE}" dt="2026-08-09T09:17:03.206" v="50" actId="478"/>
          <ac:graphicFrameMkLst>
            <pc:docMk/>
            <pc:sldMk cId="1510257611" sldId="261"/>
            <ac:graphicFrameMk id="7" creationId="{0A8B5199-ED3E-4D08-906F-60936EC95257}"/>
          </ac:graphicFrameMkLst>
        </pc:graphicFrameChg>
        <pc:graphicFrameChg chg="add mod">
          <ac:chgData name="Nontethelelo Baleni" userId="04eaa84f6b07ff88" providerId="LiveId" clId="{C84594F1-D0B8-4519-9FCF-CBD62C8740FE}" dt="2026-08-09T09:17:39.527" v="54"/>
          <ac:graphicFrameMkLst>
            <pc:docMk/>
            <pc:sldMk cId="1510257611" sldId="261"/>
            <ac:graphicFrameMk id="8" creationId="{43C8915E-29D7-ACDD-228F-0D7328165662}"/>
          </ac:graphicFrameMkLst>
        </pc:graphicFrameChg>
        <pc:picChg chg="add mod">
          <ac:chgData name="Nontethelelo Baleni" userId="04eaa84f6b07ff88" providerId="LiveId" clId="{C84594F1-D0B8-4519-9FCF-CBD62C8740FE}" dt="2026-08-09T09:18:07.043" v="61" actId="1076"/>
          <ac:picMkLst>
            <pc:docMk/>
            <pc:sldMk cId="1510257611" sldId="261"/>
            <ac:picMk id="10" creationId="{D0FD893B-8363-DE64-2C7C-FB02365E4435}"/>
          </ac:picMkLst>
        </pc:picChg>
      </pc:sldChg>
      <pc:sldChg chg="modSp mod">
        <pc:chgData name="Nontethelelo Baleni" userId="04eaa84f6b07ff88" providerId="LiveId" clId="{C84594F1-D0B8-4519-9FCF-CBD62C8740FE}" dt="2026-08-09T09:18:26.845" v="62" actId="1076"/>
        <pc:sldMkLst>
          <pc:docMk/>
          <pc:sldMk cId="4249053168" sldId="262"/>
        </pc:sldMkLst>
        <pc:spChg chg="mod">
          <ac:chgData name="Nontethelelo Baleni" userId="04eaa84f6b07ff88" providerId="LiveId" clId="{C84594F1-D0B8-4519-9FCF-CBD62C8740FE}" dt="2026-08-09T09:15:46.619" v="47" actId="1076"/>
          <ac:spMkLst>
            <pc:docMk/>
            <pc:sldMk cId="4249053168" sldId="262"/>
            <ac:spMk id="3" creationId="{2499925F-0970-E3AB-627B-8C98F43A8E8D}"/>
          </ac:spMkLst>
        </pc:spChg>
        <pc:spChg chg="mod">
          <ac:chgData name="Nontethelelo Baleni" userId="04eaa84f6b07ff88" providerId="LiveId" clId="{C84594F1-D0B8-4519-9FCF-CBD62C8740FE}" dt="2026-08-09T09:18:26.845" v="62" actId="1076"/>
          <ac:spMkLst>
            <pc:docMk/>
            <pc:sldMk cId="4249053168" sldId="262"/>
            <ac:spMk id="4" creationId="{219AB918-AB39-A8C5-DAEA-8CA37174DB85}"/>
          </ac:spMkLst>
        </pc:spChg>
      </pc:sldChg>
      <pc:sldMasterChg chg="setBg modSldLayout">
        <pc:chgData name="Nontethelelo Baleni" userId="04eaa84f6b07ff88" providerId="LiveId" clId="{C84594F1-D0B8-4519-9FCF-CBD62C8740FE}" dt="2026-08-09T09:29:26.754" v="96"/>
        <pc:sldMasterMkLst>
          <pc:docMk/>
          <pc:sldMasterMk cId="2597051182" sldId="2147483891"/>
        </pc:sldMasterMkLst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778644709" sldId="2147483892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3754015620" sldId="2147483894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321430381" sldId="2147483895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1242610130" sldId="2147483896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1622891423" sldId="2147483897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2622200306" sldId="2147483898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2913241246" sldId="2147483910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539175852" sldId="2147483911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3385186076" sldId="2147483912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2229981903" sldId="2147483917"/>
          </pc:sldLayoutMkLst>
        </pc:sldLayoutChg>
        <pc:sldLayoutChg chg="setBg">
          <pc:chgData name="Nontethelelo Baleni" userId="04eaa84f6b07ff88" providerId="LiveId" clId="{C84594F1-D0B8-4519-9FCF-CBD62C8740FE}" dt="2026-08-09T09:29:26.754" v="96"/>
          <pc:sldLayoutMkLst>
            <pc:docMk/>
            <pc:sldMasterMk cId="2597051182" sldId="2147483891"/>
            <pc:sldLayoutMk cId="447776492" sldId="214748391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4eaa84f6b07ff88/Documents/WA_Fn-UseC_-Telco-Customer-Churn_Clea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4eaa84f6b07ff88/Documents/WA_Fn-UseC_-Telco-Customer-Churn_Clea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4eaa84f6b07ff88/Documents/WA_Fn-UseC_-Telco-Customer-Churn_Clea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4eaa84f6b07ff88/Documents/WA_Fn-UseC_-Telco-Customer-Churn_Clea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4eaa84f6b07ff88/Documents/WA_Fn-UseC_-Telco-Customer-Churn_Clea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[WA_Fn-UseC_-Telco-Customer-Churn_Clean.xlsx]Customer base by contract type!PivotTable9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1.2601706036745401E-2"/>
          <c:y val="5.458863443596268E-2"/>
          <c:w val="0.6851666666666667"/>
          <c:h val="0.8368447837150127"/>
        </c:manualLayout>
      </c:layout>
      <c:pieChart>
        <c:varyColors val="1"/>
        <c:ser>
          <c:idx val="0"/>
          <c:order val="0"/>
          <c:tx>
            <c:strRef>
              <c:f>'Customer base by contract type'!$C$4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93-4403-968F-CBA79E898D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93-4403-968F-CBA79E898D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93-4403-968F-CBA79E898D06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93-4403-968F-CBA79E898D06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93-4403-968F-CBA79E898D06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C93-4403-968F-CBA79E898D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'Customer base by contract type'!$B$5:$B$8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'Customer base by contract type'!$C$5:$C$8</c:f>
              <c:numCache>
                <c:formatCode>0.00%</c:formatCode>
                <c:ptCount val="3"/>
                <c:pt idx="0">
                  <c:v>0.5501916796819537</c:v>
                </c:pt>
                <c:pt idx="1">
                  <c:v>0.20914383075394008</c:v>
                </c:pt>
                <c:pt idx="2">
                  <c:v>0.24066448956410622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93-4403-968F-CBA79E898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[WA_Fn-UseC_-Telco-Customer-Churn_Clean.xlsx]Analysis  Contract type!PivotTable1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 Contract type'!$C$4:$C$5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 Contract type'!$B$6:$B$9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'Analysis  Contract type'!$C$6:$C$9</c:f>
              <c:numCache>
                <c:formatCode>0%</c:formatCode>
                <c:ptCount val="3"/>
                <c:pt idx="0">
                  <c:v>0.57290322580645159</c:v>
                </c:pt>
                <c:pt idx="1">
                  <c:v>0.88730482009504408</c:v>
                </c:pt>
                <c:pt idx="2">
                  <c:v>0.97168141592920354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18-4620-8BE1-5A3FC1C37DBF}"/>
            </c:ext>
          </c:extLst>
        </c:ser>
        <c:ser>
          <c:idx val="1"/>
          <c:order val="1"/>
          <c:tx>
            <c:strRef>
              <c:f>'Analysis  Contract type'!$D$4:$D$5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'Analysis  Contract type'!$B$6:$B$9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'Analysis  Contract type'!$D$6:$D$9</c:f>
              <c:numCache>
                <c:formatCode>0%</c:formatCode>
                <c:ptCount val="3"/>
                <c:pt idx="0">
                  <c:v>0.42709677419354841</c:v>
                </c:pt>
                <c:pt idx="1">
                  <c:v>0.11269517990495587</c:v>
                </c:pt>
                <c:pt idx="2">
                  <c:v>2.831858407079646E-2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18-4620-8BE1-5A3FC1C37D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0626191"/>
        <c:axId val="1852111231"/>
      </c:barChart>
      <c:catAx>
        <c:axId val="1930626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111231"/>
        <c:crosses val="autoZero"/>
        <c:auto val="1"/>
        <c:lblAlgn val="ctr"/>
        <c:lblOffset val="100"/>
        <c:noMultiLvlLbl val="0"/>
      </c:catAx>
      <c:valAx>
        <c:axId val="1852111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0626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[WA_Fn-UseC_-Telco-Customer-Churn_Clean.xlsx]Analysis Tenure!PivotTable2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Tenure'!$C$4:$C$5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Tenure'!$B$6:$B$12</c:f>
              <c:strCache>
                <c:ptCount val="6"/>
                <c:pt idx="0">
                  <c:v>0-11</c:v>
                </c:pt>
                <c:pt idx="1">
                  <c:v>12-23</c:v>
                </c:pt>
                <c:pt idx="2">
                  <c:v>24-35</c:v>
                </c:pt>
                <c:pt idx="3">
                  <c:v>36-47</c:v>
                </c:pt>
                <c:pt idx="4">
                  <c:v>48-59</c:v>
                </c:pt>
                <c:pt idx="5">
                  <c:v>60-72</c:v>
                </c:pt>
              </c:strCache>
            </c:strRef>
          </c:cat>
          <c:val>
            <c:numRef>
              <c:f>'Analysis Tenure'!$C$6:$C$12</c:f>
              <c:numCache>
                <c:formatCode>0.00%</c:formatCode>
                <c:ptCount val="6"/>
                <c:pt idx="0">
                  <c:v>0.51715804736587723</c:v>
                </c:pt>
                <c:pt idx="1">
                  <c:v>0.70487106017191981</c:v>
                </c:pt>
                <c:pt idx="2">
                  <c:v>0.77968036529680362</c:v>
                </c:pt>
                <c:pt idx="3">
                  <c:v>0.80481283422459893</c:v>
                </c:pt>
                <c:pt idx="4">
                  <c:v>0.85</c:v>
                </c:pt>
                <c:pt idx="5">
                  <c:v>0.93324342548887396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B-43C2-B21B-CB8F636CAAE3}"/>
            </c:ext>
          </c:extLst>
        </c:ser>
        <c:ser>
          <c:idx val="1"/>
          <c:order val="1"/>
          <c:tx>
            <c:strRef>
              <c:f>'Analysis Tenure'!$D$4:$D$5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'Analysis Tenure'!$B$6:$B$12</c:f>
              <c:strCache>
                <c:ptCount val="6"/>
                <c:pt idx="0">
                  <c:v>0-11</c:v>
                </c:pt>
                <c:pt idx="1">
                  <c:v>12-23</c:v>
                </c:pt>
                <c:pt idx="2">
                  <c:v>24-35</c:v>
                </c:pt>
                <c:pt idx="3">
                  <c:v>36-47</c:v>
                </c:pt>
                <c:pt idx="4">
                  <c:v>48-59</c:v>
                </c:pt>
                <c:pt idx="5">
                  <c:v>60-72</c:v>
                </c:pt>
              </c:strCache>
            </c:strRef>
          </c:cat>
          <c:val>
            <c:numRef>
              <c:f>'Analysis Tenure'!$D$6:$D$12</c:f>
              <c:numCache>
                <c:formatCode>0.00%</c:formatCode>
                <c:ptCount val="6"/>
                <c:pt idx="0">
                  <c:v>0.48284195263412277</c:v>
                </c:pt>
                <c:pt idx="1">
                  <c:v>0.29512893982808025</c:v>
                </c:pt>
                <c:pt idx="2">
                  <c:v>0.22031963470319635</c:v>
                </c:pt>
                <c:pt idx="3">
                  <c:v>0.19518716577540107</c:v>
                </c:pt>
                <c:pt idx="4">
                  <c:v>0.15</c:v>
                </c:pt>
                <c:pt idx="5">
                  <c:v>6.6756574511126099E-2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DB-43C2-B21B-CB8F636CAA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7409407"/>
        <c:axId val="1852143871"/>
      </c:barChart>
      <c:catAx>
        <c:axId val="115740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143871"/>
        <c:crosses val="autoZero"/>
        <c:auto val="1"/>
        <c:lblAlgn val="ctr"/>
        <c:lblOffset val="100"/>
        <c:noMultiLvlLbl val="0"/>
      </c:catAx>
      <c:valAx>
        <c:axId val="1852143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740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[WA_Fn-UseC_-Telco-Customer-Churn_Clean.xlsx]Analysis  Internet service!PivotTable3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 Internet service'!$C$4:$C$5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 Internet service'!$B$6:$B$9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</c:v>
                </c:pt>
              </c:strCache>
            </c:strRef>
          </c:cat>
          <c:val>
            <c:numRef>
              <c:f>'Analysis  Internet service'!$C$6:$C$9</c:f>
              <c:numCache>
                <c:formatCode>0%</c:formatCode>
                <c:ptCount val="3"/>
                <c:pt idx="0">
                  <c:v>0.81040892193308545</c:v>
                </c:pt>
                <c:pt idx="1">
                  <c:v>0.58107235142118863</c:v>
                </c:pt>
                <c:pt idx="2">
                  <c:v>0.92595019659239841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7-4EC8-961C-E7BFBD6F13D1}"/>
            </c:ext>
          </c:extLst>
        </c:ser>
        <c:ser>
          <c:idx val="1"/>
          <c:order val="1"/>
          <c:tx>
            <c:strRef>
              <c:f>'Analysis  Internet service'!$D$4:$D$5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'Analysis  Internet service'!$B$6:$B$9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</c:v>
                </c:pt>
              </c:strCache>
            </c:strRef>
          </c:cat>
          <c:val>
            <c:numRef>
              <c:f>'Analysis  Internet service'!$D$6:$D$9</c:f>
              <c:numCache>
                <c:formatCode>0%</c:formatCode>
                <c:ptCount val="3"/>
                <c:pt idx="0">
                  <c:v>0.1895910780669145</c:v>
                </c:pt>
                <c:pt idx="1">
                  <c:v>0.41892764857881137</c:v>
                </c:pt>
                <c:pt idx="2">
                  <c:v>7.4049803407601575E-2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7-4EC8-961C-E7BFBD6F1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7812016"/>
        <c:axId val="2036905376"/>
      </c:barChart>
      <c:catAx>
        <c:axId val="107781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905376"/>
        <c:crosses val="autoZero"/>
        <c:auto val="1"/>
        <c:lblAlgn val="ctr"/>
        <c:lblOffset val="100"/>
        <c:noMultiLvlLbl val="0"/>
      </c:catAx>
      <c:valAx>
        <c:axId val="203690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781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[WA_Fn-UseC_-Telco-Customer-Churn_Clean.xlsx]Analysis Payment Method!PivotTable5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Payment Method'!$C$4:$C$5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'Analysis Payment Method'!$B$6:$B$10</c:f>
              <c:strCache>
                <c:ptCount val="4"/>
                <c:pt idx="0">
                  <c:v>Bank transfer (automatic)</c:v>
                </c:pt>
                <c:pt idx="1">
                  <c:v>Credit card (automatic)</c:v>
                </c:pt>
                <c:pt idx="2">
                  <c:v>Electronic check</c:v>
                </c:pt>
                <c:pt idx="3">
                  <c:v>Mailed check</c:v>
                </c:pt>
              </c:strCache>
            </c:strRef>
          </c:cat>
          <c:val>
            <c:numRef>
              <c:f>'Analysis Payment Method'!$C$6:$C$10</c:f>
              <c:numCache>
                <c:formatCode>0%</c:formatCode>
                <c:ptCount val="4"/>
                <c:pt idx="0">
                  <c:v>0.83290155440414504</c:v>
                </c:pt>
                <c:pt idx="1">
                  <c:v>0.84756898817345594</c:v>
                </c:pt>
                <c:pt idx="2">
                  <c:v>0.54714587737843556</c:v>
                </c:pt>
                <c:pt idx="3">
                  <c:v>0.80893300248138955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88-4183-918A-F73B4116AE3F}"/>
            </c:ext>
          </c:extLst>
        </c:ser>
        <c:ser>
          <c:idx val="1"/>
          <c:order val="1"/>
          <c:tx>
            <c:strRef>
              <c:f>'Analysis Payment Method'!$D$4:$D$5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'Analysis Payment Method'!$B$6:$B$10</c:f>
              <c:strCache>
                <c:ptCount val="4"/>
                <c:pt idx="0">
                  <c:v>Bank transfer (automatic)</c:v>
                </c:pt>
                <c:pt idx="1">
                  <c:v>Credit card (automatic)</c:v>
                </c:pt>
                <c:pt idx="2">
                  <c:v>Electronic check</c:v>
                </c:pt>
                <c:pt idx="3">
                  <c:v>Mailed check</c:v>
                </c:pt>
              </c:strCache>
            </c:strRef>
          </c:cat>
          <c:val>
            <c:numRef>
              <c:f>'Analysis Payment Method'!$D$6:$D$10</c:f>
              <c:numCache>
                <c:formatCode>0%</c:formatCode>
                <c:ptCount val="4"/>
                <c:pt idx="0">
                  <c:v>0.16709844559585493</c:v>
                </c:pt>
                <c:pt idx="1">
                  <c:v>0.15243101182654403</c:v>
                </c:pt>
                <c:pt idx="2">
                  <c:v>0.45285412262156449</c:v>
                </c:pt>
                <c:pt idx="3">
                  <c:v>0.19106699751861042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88-4183-918A-F73B4116A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5514479"/>
        <c:axId val="1852113631"/>
      </c:barChart>
      <c:catAx>
        <c:axId val="110551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113631"/>
        <c:crosses val="autoZero"/>
        <c:auto val="1"/>
        <c:lblAlgn val="ctr"/>
        <c:lblOffset val="100"/>
        <c:noMultiLvlLbl val="0"/>
      </c:catAx>
      <c:valAx>
        <c:axId val="1852113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551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E3F79-D91A-401E-8BDD-012B7818A5B6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32589-03F3-43FD-B729-D7CAF042D4F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688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32589-03F3-43FD-B729-D7CAF042D4F5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010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644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62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015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3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61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89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20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6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9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976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495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53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03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753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497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367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575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027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241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1758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186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279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408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56005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87253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981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77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3A543C90-EF1B-4350-BBFA-221284233C63}" type="datetimeFigureOut">
              <a:rPr lang="en-ZA" smtClean="0"/>
              <a:t>2026/08/09</a:t>
            </a:fld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599E4EC-E89F-4906-9917-BAF645CEC25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705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09" r:id="rId18"/>
    <p:sldLayoutId id="2147483910" r:id="rId19"/>
    <p:sldLayoutId id="2147483911" r:id="rId20"/>
    <p:sldLayoutId id="2147483912" r:id="rId21"/>
    <p:sldLayoutId id="2147483913" r:id="rId22"/>
    <p:sldLayoutId id="2147483914" r:id="rId23"/>
    <p:sldLayoutId id="2147483915" r:id="rId24"/>
    <p:sldLayoutId id="2147483916" r:id="rId25"/>
    <p:sldLayoutId id="2147483917" r:id="rId26"/>
    <p:sldLayoutId id="214748391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CBC6346-DDA3-BF32-CB84-CDDF15925051}"/>
              </a:ext>
            </a:extLst>
          </p:cNvPr>
          <p:cNvSpPr txBox="1"/>
          <p:nvPr/>
        </p:nvSpPr>
        <p:spPr>
          <a:xfrm>
            <a:off x="7772445" y="1480212"/>
            <a:ext cx="3849131" cy="287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>
                <a:solidFill>
                  <a:schemeClr val="tx2">
                    <a:alpha val="90000"/>
                  </a:schemeClr>
                </a:solidFill>
                <a:latin typeface="+mj-lt"/>
                <a:ea typeface="+mj-ea"/>
                <a:cs typeface="+mj-cs"/>
              </a:rPr>
              <a:t>ABC COMMUNICATIONS LTD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>
                <a:solidFill>
                  <a:schemeClr val="tx2">
                    <a:alpha val="90000"/>
                  </a:schemeClr>
                </a:solidFill>
                <a:latin typeface="+mj-lt"/>
                <a:ea typeface="+mj-ea"/>
                <a:cs typeface="+mj-cs"/>
              </a:rPr>
              <a:t>Customer Churn &amp; Retention Analysis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>
                <a:solidFill>
                  <a:schemeClr val="tx2">
                    <a:alpha val="90000"/>
                  </a:schemeClr>
                </a:solidFill>
                <a:latin typeface="+mj-lt"/>
                <a:ea typeface="+mj-ea"/>
                <a:cs typeface="+mj-cs"/>
              </a:rPr>
              <a:t>Business Analytics Case Study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>
                <a:solidFill>
                  <a:schemeClr val="tx2">
                    <a:alpha val="90000"/>
                  </a:schemeClr>
                </a:solidFill>
                <a:latin typeface="+mj-lt"/>
                <a:ea typeface="+mj-ea"/>
                <a:cs typeface="+mj-cs"/>
              </a:rPr>
              <a:t>Prepared by: Nontethelelo Ivy Macebo | Junior Data Analyst | August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F0E12-C3A6-D9F8-C5E1-9A8803F8C1A3}"/>
              </a:ext>
            </a:extLst>
          </p:cNvPr>
          <p:cNvSpPr txBox="1"/>
          <p:nvPr/>
        </p:nvSpPr>
        <p:spPr>
          <a:xfrm>
            <a:off x="7772446" y="5410440"/>
            <a:ext cx="3849128" cy="106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700" b="1">
                <a:solidFill>
                  <a:schemeClr val="tx2"/>
                </a:solidFill>
              </a:rPr>
              <a:t>ABC COMMUNICATIONS LTD</a:t>
            </a:r>
          </a:p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700" b="1">
                <a:solidFill>
                  <a:schemeClr val="tx2"/>
                </a:solidFill>
              </a:rPr>
              <a:t>Customer Churn &amp; Retention Analysis</a:t>
            </a:r>
          </a:p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700" b="0">
                <a:solidFill>
                  <a:schemeClr val="tx2"/>
                </a:solidFill>
              </a:rPr>
              <a:t>Business Analytics Case Study</a:t>
            </a:r>
          </a:p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700" b="0">
                <a:solidFill>
                  <a:schemeClr val="tx2"/>
                </a:solidFill>
              </a:rPr>
              <a:t>Prepared by: Nontethelelo Ivy Macebo | Junior Data Analyst | August 2026</a:t>
            </a:r>
          </a:p>
        </p:txBody>
      </p:sp>
      <p:pic>
        <p:nvPicPr>
          <p:cNvPr id="11" name="Picture 10" descr="Desk with productivity items">
            <a:extLst>
              <a:ext uri="{FF2B5EF4-FFF2-40B4-BE49-F238E27FC236}">
                <a16:creationId xmlns:a16="http://schemas.microsoft.com/office/drawing/2014/main" id="{27D86474-B079-8FCB-2597-47AE3B45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73" r="7321" b="-2"/>
          <a:stretch>
            <a:fillRect/>
          </a:stretch>
        </p:blipFill>
        <p:spPr>
          <a:xfrm>
            <a:off x="20" y="10"/>
            <a:ext cx="7204394" cy="68596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2014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763EA-673A-7AAD-87F5-396EEFD6E6D4}"/>
              </a:ext>
            </a:extLst>
          </p:cNvPr>
          <p:cNvSpPr txBox="1"/>
          <p:nvPr/>
        </p:nvSpPr>
        <p:spPr>
          <a:xfrm>
            <a:off x="247650" y="609600"/>
            <a:ext cx="5632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>
                <a:solidFill>
                  <a:srgbClr val="1F344C"/>
                </a:solidFill>
              </a:rPr>
              <a:t>1. Business Problem &amp; Objectives</a:t>
            </a:r>
            <a:endParaRPr lang="en-ZA" b="1" dirty="0">
              <a:solidFill>
                <a:srgbClr val="1F344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DD90B-9A5D-DC39-2E30-7F6C701DE1EB}"/>
              </a:ext>
            </a:extLst>
          </p:cNvPr>
          <p:cNvSpPr txBox="1"/>
          <p:nvPr/>
        </p:nvSpPr>
        <p:spPr>
          <a:xfrm>
            <a:off x="647700" y="978932"/>
            <a:ext cx="982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646464"/>
                </a:solidFill>
              </a:rPr>
              <a:t>Understanding who is most likely to churn and where retention efforts should focus</a:t>
            </a:r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C5A14-2762-4AD1-8D1E-3E8C7DF99317}"/>
              </a:ext>
            </a:extLst>
          </p:cNvPr>
          <p:cNvSpPr txBox="1"/>
          <p:nvPr/>
        </p:nvSpPr>
        <p:spPr>
          <a:xfrm>
            <a:off x="946592" y="1803142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5400" b="1" dirty="0">
                <a:solidFill>
                  <a:srgbClr val="1F344C"/>
                </a:solidFill>
              </a:rPr>
              <a:t>7,043</a:t>
            </a:r>
          </a:p>
          <a:p>
            <a:pPr algn="ctr"/>
            <a:r>
              <a:rPr lang="en-ZA" dirty="0">
                <a:solidFill>
                  <a:srgbClr val="2D2D2D"/>
                </a:solidFill>
              </a:rPr>
              <a:t>customer records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829E2-626E-199C-3F9F-AE74353CD30D}"/>
              </a:ext>
            </a:extLst>
          </p:cNvPr>
          <p:cNvSpPr txBox="1"/>
          <p:nvPr/>
        </p:nvSpPr>
        <p:spPr>
          <a:xfrm>
            <a:off x="3348221" y="2336542"/>
            <a:ext cx="24561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5400" b="1" dirty="0">
                <a:solidFill>
                  <a:srgbClr val="1F344C"/>
                </a:solidFill>
              </a:rPr>
              <a:t>26.54%</a:t>
            </a:r>
          </a:p>
          <a:p>
            <a:pPr algn="ctr"/>
            <a:r>
              <a:rPr lang="en-ZA" dirty="0">
                <a:solidFill>
                  <a:srgbClr val="2D2D2D"/>
                </a:solidFill>
              </a:rPr>
              <a:t>overall churn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6C2D4-6BB7-8DAB-28D4-08255A81FA61}"/>
              </a:ext>
            </a:extLst>
          </p:cNvPr>
          <p:cNvSpPr txBox="1"/>
          <p:nvPr/>
        </p:nvSpPr>
        <p:spPr>
          <a:xfrm>
            <a:off x="6072372" y="3003471"/>
            <a:ext cx="24561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5400" b="1" dirty="0">
                <a:solidFill>
                  <a:srgbClr val="1F344C"/>
                </a:solidFill>
              </a:rPr>
              <a:t>55.02%</a:t>
            </a:r>
          </a:p>
          <a:p>
            <a:pPr algn="ctr"/>
            <a:r>
              <a:rPr lang="en-ZA" dirty="0">
                <a:solidFill>
                  <a:srgbClr val="2D2D2D"/>
                </a:solidFill>
              </a:rPr>
              <a:t>month-to-month base</a:t>
            </a:r>
          </a:p>
          <a:p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BD25D-0AE9-29A2-433E-BBBEFC3128AC}"/>
              </a:ext>
            </a:extLst>
          </p:cNvPr>
          <p:cNvSpPr txBox="1"/>
          <p:nvPr/>
        </p:nvSpPr>
        <p:spPr>
          <a:xfrm>
            <a:off x="647700" y="4480800"/>
            <a:ext cx="9279393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rPr lang="en-GB" dirty="0"/>
              <a:t>Identify customer segments with the highest observed churn.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rPr lang="en-GB" dirty="0"/>
              <a:t>• Assess contract type, tenure, internet service, payment method and charges.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rPr lang="en-GB" dirty="0"/>
              <a:t>• Translate findings into practical retention actions for management.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892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E9AB4-06D8-A081-3A64-4E5A1CCB0C71}"/>
              </a:ext>
            </a:extLst>
          </p:cNvPr>
          <p:cNvSpPr txBox="1"/>
          <p:nvPr/>
        </p:nvSpPr>
        <p:spPr>
          <a:xfrm>
            <a:off x="247650" y="476250"/>
            <a:ext cx="6993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344C"/>
                </a:solidFill>
              </a:rPr>
              <a:t>2. Customer Base &amp; Overall Churn</a:t>
            </a:r>
          </a:p>
          <a:p>
            <a:r>
              <a:rPr lang="en-GB" dirty="0">
                <a:solidFill>
                  <a:srgbClr val="646464"/>
                </a:solidFill>
              </a:rPr>
              <a:t>The customer base is heavily exposed to month-to-month customers</a:t>
            </a:r>
          </a:p>
          <a:p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5C412-A655-639D-D48D-854C1F094B5E}"/>
              </a:ext>
            </a:extLst>
          </p:cNvPr>
          <p:cNvSpPr txBox="1"/>
          <p:nvPr/>
        </p:nvSpPr>
        <p:spPr>
          <a:xfrm>
            <a:off x="822960" y="1490472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1F344C"/>
                </a:solidFill>
              </a:rPr>
              <a:t>55.02%</a:t>
            </a:r>
          </a:p>
          <a:p>
            <a:pPr algn="ctr"/>
            <a:r>
              <a:rPr sz="1000" dirty="0">
                <a:solidFill>
                  <a:srgbClr val="2D2D2D"/>
                </a:solidFill>
              </a:rPr>
              <a:t>Month-to-month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F2397-DCCA-22F8-944C-F9C776AD292C}"/>
              </a:ext>
            </a:extLst>
          </p:cNvPr>
          <p:cNvSpPr txBox="1"/>
          <p:nvPr/>
        </p:nvSpPr>
        <p:spPr>
          <a:xfrm>
            <a:off x="2747571" y="1490472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1F344C"/>
                </a:solidFill>
              </a:rPr>
              <a:t>24.07%</a:t>
            </a:r>
          </a:p>
          <a:p>
            <a:pPr algn="ctr"/>
            <a:r>
              <a:rPr sz="1000" dirty="0">
                <a:solidFill>
                  <a:srgbClr val="2D2D2D"/>
                </a:solidFill>
              </a:rPr>
              <a:t>Two-year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98DBD-1139-21C0-684A-74B08C08BD62}"/>
              </a:ext>
            </a:extLst>
          </p:cNvPr>
          <p:cNvSpPr txBox="1"/>
          <p:nvPr/>
        </p:nvSpPr>
        <p:spPr>
          <a:xfrm>
            <a:off x="400050" y="3386284"/>
            <a:ext cx="10181442" cy="1585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rPr lang="en-GB" dirty="0"/>
              <a:t>• 73.46% of customers stayed while 26.54% churned.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rPr lang="en-GB" dirty="0"/>
              <a:t>• Month-to-month customers form the largest contract segment.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rPr lang="en-GB" dirty="0"/>
              <a:t>• Because this segment also has the highest contract-level churn, it is a priority retention opportunity.</a:t>
            </a:r>
          </a:p>
          <a:p>
            <a:endParaRPr lang="en-ZA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41CDAD3-1A9E-8638-8375-0D8B269B44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077164"/>
              </p:ext>
            </p:extLst>
          </p:nvPr>
        </p:nvGraphicFramePr>
        <p:xfrm>
          <a:off x="6339842" y="807529"/>
          <a:ext cx="4572000" cy="3743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168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35C6A-23A8-D10E-53C3-61D9E85CB665}"/>
              </a:ext>
            </a:extLst>
          </p:cNvPr>
          <p:cNvSpPr txBox="1"/>
          <p:nvPr/>
        </p:nvSpPr>
        <p:spPr>
          <a:xfrm>
            <a:off x="171450" y="419100"/>
            <a:ext cx="12557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344C"/>
                </a:solidFill>
              </a:rPr>
              <a:t>3. Where Churn Is Highest: Contract &amp; Tenure</a:t>
            </a:r>
          </a:p>
          <a:p>
            <a:r>
              <a:rPr lang="en-GB" dirty="0">
                <a:solidFill>
                  <a:srgbClr val="646464"/>
                </a:solidFill>
              </a:rPr>
              <a:t>Contractual commitment and customer maturity show strong differences</a:t>
            </a:r>
          </a:p>
          <a:p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A5C69-ECCB-EAF0-28D3-88C9ADF823EE}"/>
              </a:ext>
            </a:extLst>
          </p:cNvPr>
          <p:cNvSpPr txBox="1"/>
          <p:nvPr/>
        </p:nvSpPr>
        <p:spPr>
          <a:xfrm>
            <a:off x="495300" y="1280131"/>
            <a:ext cx="4325351" cy="167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1F344C"/>
                </a:solidFill>
              </a:rPr>
              <a:t>Contract type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Month-to-month: 43%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One year: 11%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Two year: 3%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55.02% of the customer base is month-to-month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600F0-7103-3E94-7719-4AC23A9EFDCD}"/>
              </a:ext>
            </a:extLst>
          </p:cNvPr>
          <p:cNvSpPr txBox="1"/>
          <p:nvPr/>
        </p:nvSpPr>
        <p:spPr>
          <a:xfrm>
            <a:off x="6096000" y="1346379"/>
            <a:ext cx="3301032" cy="2082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1F344C"/>
                </a:solidFill>
              </a:rPr>
              <a:t>Tenure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0–11 months: 48.28%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12–23 months: 29.51%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60–72 months: 6.68%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Tenure ↔ Churn correlation: -0.3522</a:t>
            </a:r>
          </a:p>
          <a:p>
            <a:endParaRPr lang="en-ZA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F9685C1-35C5-1BE7-C646-28B7585A7D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797857"/>
              </p:ext>
            </p:extLst>
          </p:nvPr>
        </p:nvGraphicFramePr>
        <p:xfrm>
          <a:off x="495300" y="3076574"/>
          <a:ext cx="4572000" cy="3052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D2EE1E-E44A-0CAD-7186-5F81C181AA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318166"/>
              </p:ext>
            </p:extLst>
          </p:nvPr>
        </p:nvGraphicFramePr>
        <p:xfrm>
          <a:off x="6096000" y="3076574"/>
          <a:ext cx="4572000" cy="3038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1822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8614E1-0F9A-4290-CAF2-DA92619B3972}"/>
              </a:ext>
            </a:extLst>
          </p:cNvPr>
          <p:cNvSpPr txBox="1"/>
          <p:nvPr/>
        </p:nvSpPr>
        <p:spPr>
          <a:xfrm>
            <a:off x="628650" y="495300"/>
            <a:ext cx="8592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344C"/>
                </a:solidFill>
              </a:rPr>
              <a:t>4. Service &amp; Payment Risk Signals</a:t>
            </a:r>
          </a:p>
          <a:p>
            <a:r>
              <a:rPr lang="en-GB" dirty="0">
                <a:solidFill>
                  <a:srgbClr val="646464"/>
                </a:solidFill>
              </a:rPr>
              <a:t>Fiber optic and electronic-check segments show substantially higher observed churn</a:t>
            </a:r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CDB2C-8079-2938-592E-764CE62B3FC2}"/>
              </a:ext>
            </a:extLst>
          </p:cNvPr>
          <p:cNvSpPr txBox="1"/>
          <p:nvPr/>
        </p:nvSpPr>
        <p:spPr>
          <a:xfrm>
            <a:off x="821286" y="1536879"/>
            <a:ext cx="5274714" cy="2082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1F344C"/>
                </a:solidFill>
              </a:rPr>
              <a:t>Internet service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Fiber optic: 42%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DSL: 19%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No internet service: 7%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Investigate service quality, pricing and customer experience.</a:t>
            </a:r>
          </a:p>
          <a:p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63D79-6E29-59DA-56C6-0C75B95AB796}"/>
              </a:ext>
            </a:extLst>
          </p:cNvPr>
          <p:cNvSpPr txBox="1"/>
          <p:nvPr/>
        </p:nvSpPr>
        <p:spPr>
          <a:xfrm>
            <a:off x="7200900" y="1536879"/>
            <a:ext cx="2761140" cy="2082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1F344C"/>
                </a:solidFill>
              </a:rPr>
              <a:t>Payment method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Electronic check: 45% churn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Mailed check: 19%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Automatic bank transfer: 17%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Automatic credit card: 15%</a:t>
            </a:r>
          </a:p>
          <a:p>
            <a:endParaRPr lang="en-ZA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AE8695E-3923-6C39-A010-0AD48682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0492435"/>
              </p:ext>
            </p:extLst>
          </p:nvPr>
        </p:nvGraphicFramePr>
        <p:xfrm>
          <a:off x="821286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4437349-4D66-D087-2432-EED92EC7FE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2772371"/>
              </p:ext>
            </p:extLst>
          </p:nvPr>
        </p:nvGraphicFramePr>
        <p:xfrm>
          <a:off x="7200900" y="3429000"/>
          <a:ext cx="4599122" cy="2626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7427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A628C-7653-09A7-A5E9-73063D8E73CD}"/>
              </a:ext>
            </a:extLst>
          </p:cNvPr>
          <p:cNvSpPr txBox="1"/>
          <p:nvPr/>
        </p:nvSpPr>
        <p:spPr>
          <a:xfrm>
            <a:off x="190500" y="361950"/>
            <a:ext cx="9473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344C"/>
                </a:solidFill>
              </a:rPr>
              <a:t>5. Charges &amp; Correlation Analysis</a:t>
            </a:r>
          </a:p>
          <a:p>
            <a:r>
              <a:rPr lang="en-GB" dirty="0">
                <a:solidFill>
                  <a:srgbClr val="646464"/>
                </a:solidFill>
              </a:rPr>
              <a:t>Higher monthly charges are associated with churn, but the relationship is weak</a:t>
            </a:r>
          </a:p>
          <a:p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7D184-B463-382A-01FC-74D566D4168D}"/>
              </a:ext>
            </a:extLst>
          </p:cNvPr>
          <p:cNvSpPr txBox="1"/>
          <p:nvPr/>
        </p:nvSpPr>
        <p:spPr>
          <a:xfrm>
            <a:off x="666750" y="1276073"/>
            <a:ext cx="27622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b="1" dirty="0">
                <a:solidFill>
                  <a:srgbClr val="1F344C"/>
                </a:solidFill>
              </a:rPr>
              <a:t>R60.81</a:t>
            </a:r>
          </a:p>
          <a:p>
            <a:pPr algn="ctr"/>
            <a:r>
              <a:rPr lang="en-ZA" dirty="0">
                <a:solidFill>
                  <a:srgbClr val="2D2D2D"/>
                </a:solidFill>
              </a:rPr>
              <a:t>average — stayed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494D0-650B-2FAF-141F-F77F7922B46B}"/>
              </a:ext>
            </a:extLst>
          </p:cNvPr>
          <p:cNvSpPr txBox="1"/>
          <p:nvPr/>
        </p:nvSpPr>
        <p:spPr>
          <a:xfrm>
            <a:off x="4552170" y="1285280"/>
            <a:ext cx="209403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2000" b="1" dirty="0">
                <a:solidFill>
                  <a:srgbClr val="1F344C"/>
                </a:solidFill>
              </a:rPr>
              <a:t>R76.28</a:t>
            </a:r>
          </a:p>
          <a:p>
            <a:pPr algn="ctr"/>
            <a:r>
              <a:rPr lang="en-ZA" dirty="0">
                <a:solidFill>
                  <a:srgbClr val="2D2D2D"/>
                </a:solidFill>
              </a:rPr>
              <a:t>average — churned</a:t>
            </a:r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FA06B-194E-6B8E-2A3A-93F1D7715430}"/>
              </a:ext>
            </a:extLst>
          </p:cNvPr>
          <p:cNvSpPr txBox="1"/>
          <p:nvPr/>
        </p:nvSpPr>
        <p:spPr>
          <a:xfrm>
            <a:off x="664639" y="2199403"/>
            <a:ext cx="9901779" cy="1905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lang="en-GB" dirty="0"/>
              <a:t>• Tenure ↔ Churn: -0.3522 — strongest observed relationship among the analysed numerical variables.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lang="en-GB" dirty="0"/>
              <a:t>• Total Charges ↔ Churn: -0.1983 — weak negative relationship.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lang="en-GB" dirty="0"/>
              <a:t>• Monthly Charges ↔ Churn: +0.1934 — weak positive relationship.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rPr lang="en-GB" dirty="0"/>
              <a:t>• These results show associations, not proof that a single factor causes churn.</a:t>
            </a:r>
          </a:p>
          <a:p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D893B-8363-DE64-2C7C-FB02365E4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39" y="4114065"/>
            <a:ext cx="10563794" cy="146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5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B6D9B-7EAE-135D-67EC-9D0160A91537}"/>
              </a:ext>
            </a:extLst>
          </p:cNvPr>
          <p:cNvSpPr txBox="1"/>
          <p:nvPr/>
        </p:nvSpPr>
        <p:spPr>
          <a:xfrm>
            <a:off x="609600" y="209550"/>
            <a:ext cx="81572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344C"/>
                </a:solidFill>
              </a:rPr>
              <a:t>6. Business Risks &amp; Opportunities</a:t>
            </a:r>
          </a:p>
          <a:p>
            <a:r>
              <a:rPr lang="en-GB" dirty="0">
                <a:solidFill>
                  <a:srgbClr val="646464"/>
                </a:solidFill>
              </a:rPr>
              <a:t>The evidence supports targeted retention rather than a one-size-fits-all approach</a:t>
            </a:r>
          </a:p>
          <a:p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9925F-0970-E3AB-627B-8C98F43A8E8D}"/>
              </a:ext>
            </a:extLst>
          </p:cNvPr>
          <p:cNvSpPr txBox="1"/>
          <p:nvPr/>
        </p:nvSpPr>
        <p:spPr>
          <a:xfrm>
            <a:off x="609600" y="1290875"/>
            <a:ext cx="5234125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1F344C"/>
                </a:solidFill>
              </a:rPr>
              <a:t>Key risks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High churn across vulnerable customer segments.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Potential loss of relatively higher-value recurring revenue.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Early-life retention risk: 48.28% churn in the first 12 months.</a:t>
            </a:r>
          </a:p>
          <a:p>
            <a:endParaRPr lang="en-ZA" b="1" dirty="0">
              <a:solidFill>
                <a:srgbClr val="1F344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AB918-AB39-A8C5-DAEA-8CA37174DB85}"/>
              </a:ext>
            </a:extLst>
          </p:cNvPr>
          <p:cNvSpPr txBox="1"/>
          <p:nvPr/>
        </p:nvSpPr>
        <p:spPr>
          <a:xfrm>
            <a:off x="6248400" y="3429000"/>
            <a:ext cx="5670976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1F344C"/>
                </a:solidFill>
              </a:rPr>
              <a:t>Key opportunities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Structured first-year retention programme.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Convert suitable month-to-month customers to longer contracts.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rPr lang="en-GB" dirty="0"/>
              <a:t>• Use multiple risk indicators to prioritise high-risk customers.</a:t>
            </a:r>
          </a:p>
          <a:p>
            <a:endParaRPr lang="en-ZA" b="1" dirty="0">
              <a:solidFill>
                <a:srgbClr val="1F34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5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1F322-E4D8-647D-7696-DDD67BE15234}"/>
              </a:ext>
            </a:extLst>
          </p:cNvPr>
          <p:cNvSpPr txBox="1"/>
          <p:nvPr/>
        </p:nvSpPr>
        <p:spPr>
          <a:xfrm>
            <a:off x="323850" y="514350"/>
            <a:ext cx="6920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344C"/>
                </a:solidFill>
              </a:rPr>
              <a:t>7. Recommendations &amp; Expected Business Action</a:t>
            </a:r>
          </a:p>
          <a:p>
            <a:r>
              <a:rPr lang="en-GB" dirty="0">
                <a:solidFill>
                  <a:srgbClr val="646464"/>
                </a:solidFill>
              </a:rPr>
              <a:t>Prioritise measurable interventions and monitor their impact</a:t>
            </a:r>
          </a:p>
          <a:p>
            <a:endParaRPr lang="en-ZA"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735AE96A-5197-69FC-EAFB-9401702B3CE8}"/>
              </a:ext>
            </a:extLst>
          </p:cNvPr>
          <p:cNvSpPr/>
          <p:nvPr/>
        </p:nvSpPr>
        <p:spPr>
          <a:xfrm>
            <a:off x="594360" y="1234440"/>
            <a:ext cx="640080" cy="502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E2F38-900E-BCB3-95F6-A50D012639AE}"/>
              </a:ext>
            </a:extLst>
          </p:cNvPr>
          <p:cNvSpPr txBox="1"/>
          <p:nvPr/>
        </p:nvSpPr>
        <p:spPr>
          <a:xfrm>
            <a:off x="685800" y="1353312"/>
            <a:ext cx="457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F344C"/>
                </a:solidFill>
              </a:rPr>
              <a:t>1</a:t>
            </a:r>
          </a:p>
          <a:p>
            <a:pPr algn="ctr"/>
            <a:endParaRPr sz="2500" b="1">
              <a:solidFill>
                <a:srgbClr val="1F344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61387B-06EF-7B34-FE06-DC024942AFF9}"/>
              </a:ext>
            </a:extLst>
          </p:cNvPr>
          <p:cNvSpPr txBox="1"/>
          <p:nvPr/>
        </p:nvSpPr>
        <p:spPr>
          <a:xfrm>
            <a:off x="1371600" y="121615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44C"/>
                </a:solidFill>
              </a:rPr>
              <a:t>Early-tenure programme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529F1A-E0FD-09DC-41D1-3521D73107D2}"/>
              </a:ext>
            </a:extLst>
          </p:cNvPr>
          <p:cNvSpPr txBox="1"/>
          <p:nvPr/>
        </p:nvSpPr>
        <p:spPr>
          <a:xfrm>
            <a:off x="3657600" y="1216152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2D2D"/>
                </a:solidFill>
              </a:rPr>
              <a:t>Onboard and proactively engage customers during the first 12 months.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A459055-49C5-649B-856C-D2BF7EEEEEE3}"/>
              </a:ext>
            </a:extLst>
          </p:cNvPr>
          <p:cNvSpPr/>
          <p:nvPr/>
        </p:nvSpPr>
        <p:spPr>
          <a:xfrm>
            <a:off x="594360" y="2176272"/>
            <a:ext cx="640080" cy="502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BF6C8-5EDA-2F74-5604-59D1D0131A82}"/>
              </a:ext>
            </a:extLst>
          </p:cNvPr>
          <p:cNvSpPr txBox="1"/>
          <p:nvPr/>
        </p:nvSpPr>
        <p:spPr>
          <a:xfrm>
            <a:off x="685800" y="2295144"/>
            <a:ext cx="457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F344C"/>
                </a:solidFill>
              </a:rPr>
              <a:t>2</a:t>
            </a:r>
          </a:p>
          <a:p>
            <a:pPr algn="ctr"/>
            <a:endParaRPr sz="2500" b="1">
              <a:solidFill>
                <a:srgbClr val="1F344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86D99-F94C-F822-C70A-E7279D2C0078}"/>
              </a:ext>
            </a:extLst>
          </p:cNvPr>
          <p:cNvSpPr txBox="1"/>
          <p:nvPr/>
        </p:nvSpPr>
        <p:spPr>
          <a:xfrm>
            <a:off x="1371600" y="2157984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44C"/>
                </a:solidFill>
              </a:rPr>
              <a:t>Contract conversion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2ED95B-C6E3-5EC3-7840-567C397C1CB1}"/>
              </a:ext>
            </a:extLst>
          </p:cNvPr>
          <p:cNvSpPr txBox="1"/>
          <p:nvPr/>
        </p:nvSpPr>
        <p:spPr>
          <a:xfrm>
            <a:off x="3657600" y="2157984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2D2D"/>
                </a:solidFill>
              </a:rPr>
              <a:t>Offer targeted value or incentives to suitable month-to-month customers.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4B844B4D-C1D0-9738-58B2-39689BC879CD}"/>
              </a:ext>
            </a:extLst>
          </p:cNvPr>
          <p:cNvSpPr/>
          <p:nvPr/>
        </p:nvSpPr>
        <p:spPr>
          <a:xfrm>
            <a:off x="594360" y="3118104"/>
            <a:ext cx="640080" cy="502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5FC6DF-DB54-EAB0-B8D9-9B2525995FE3}"/>
              </a:ext>
            </a:extLst>
          </p:cNvPr>
          <p:cNvSpPr txBox="1"/>
          <p:nvPr/>
        </p:nvSpPr>
        <p:spPr>
          <a:xfrm>
            <a:off x="685800" y="3236976"/>
            <a:ext cx="457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F344C"/>
                </a:solidFill>
              </a:rPr>
              <a:t>3</a:t>
            </a:r>
          </a:p>
          <a:p>
            <a:pPr algn="ctr"/>
            <a:endParaRPr sz="2500" b="1">
              <a:solidFill>
                <a:srgbClr val="1F344C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A25162-31F9-D930-1D30-47BC01B8CCBA}"/>
              </a:ext>
            </a:extLst>
          </p:cNvPr>
          <p:cNvSpPr txBox="1"/>
          <p:nvPr/>
        </p:nvSpPr>
        <p:spPr>
          <a:xfrm>
            <a:off x="1371600" y="3099816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44C"/>
                </a:solidFill>
              </a:rPr>
              <a:t>Fiber investigation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8B90E9-E555-D706-D7B0-3562B0C1A4D4}"/>
              </a:ext>
            </a:extLst>
          </p:cNvPr>
          <p:cNvSpPr txBox="1"/>
          <p:nvPr/>
        </p:nvSpPr>
        <p:spPr>
          <a:xfrm>
            <a:off x="3657600" y="3099816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2D2D"/>
                </a:solidFill>
              </a:rPr>
              <a:t>Investigate pricing, service quality, complaints and customer experience.</a:t>
            </a:r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B9FAFA62-F9D3-FB5B-B8FE-92B3236B226B}"/>
              </a:ext>
            </a:extLst>
          </p:cNvPr>
          <p:cNvSpPr/>
          <p:nvPr/>
        </p:nvSpPr>
        <p:spPr>
          <a:xfrm>
            <a:off x="594360" y="4059936"/>
            <a:ext cx="640080" cy="502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A36865-EB69-AA26-0A61-0D233D998E6A}"/>
              </a:ext>
            </a:extLst>
          </p:cNvPr>
          <p:cNvSpPr txBox="1"/>
          <p:nvPr/>
        </p:nvSpPr>
        <p:spPr>
          <a:xfrm>
            <a:off x="685800" y="4178808"/>
            <a:ext cx="457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F344C"/>
                </a:solidFill>
              </a:rPr>
              <a:t>4</a:t>
            </a:r>
          </a:p>
          <a:p>
            <a:pPr algn="ctr"/>
            <a:endParaRPr sz="2500" b="1">
              <a:solidFill>
                <a:srgbClr val="1F344C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583AB-6C29-4C74-4B7B-37598666E9A9}"/>
              </a:ext>
            </a:extLst>
          </p:cNvPr>
          <p:cNvSpPr txBox="1"/>
          <p:nvPr/>
        </p:nvSpPr>
        <p:spPr>
          <a:xfrm>
            <a:off x="1371600" y="404164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344C"/>
                </a:solidFill>
              </a:rPr>
              <a:t>Payment intervention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98C0FB-5F5E-A794-987F-BF1F9F6741A0}"/>
              </a:ext>
            </a:extLst>
          </p:cNvPr>
          <p:cNvSpPr txBox="1"/>
          <p:nvPr/>
        </p:nvSpPr>
        <p:spPr>
          <a:xfrm>
            <a:off x="3657600" y="40416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2D2D"/>
                </a:solidFill>
              </a:rPr>
              <a:t>Investigate electronic-check friction and encourage suitable automatic payment adoption.</a:t>
            </a:r>
          </a:p>
        </p:txBody>
      </p:sp>
      <p:sp>
        <p:nvSpPr>
          <p:cNvPr id="39" name="Rounded Rectangle 18">
            <a:extLst>
              <a:ext uri="{FF2B5EF4-FFF2-40B4-BE49-F238E27FC236}">
                <a16:creationId xmlns:a16="http://schemas.microsoft.com/office/drawing/2014/main" id="{307CF31E-5B88-BC4F-F3BB-1B1CD4B30056}"/>
              </a:ext>
            </a:extLst>
          </p:cNvPr>
          <p:cNvSpPr/>
          <p:nvPr/>
        </p:nvSpPr>
        <p:spPr>
          <a:xfrm>
            <a:off x="594360" y="5001768"/>
            <a:ext cx="640080" cy="502920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7E3366-615E-F42E-0B9B-586BA860F6BB}"/>
              </a:ext>
            </a:extLst>
          </p:cNvPr>
          <p:cNvSpPr txBox="1"/>
          <p:nvPr/>
        </p:nvSpPr>
        <p:spPr>
          <a:xfrm>
            <a:off x="685800" y="5120640"/>
            <a:ext cx="457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F344C"/>
                </a:solidFill>
              </a:rPr>
              <a:t>5</a:t>
            </a:r>
          </a:p>
          <a:p>
            <a:pPr algn="ctr"/>
            <a:endParaRPr sz="2500" b="1">
              <a:solidFill>
                <a:srgbClr val="1F344C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C110B0-2F3F-634D-1010-D19930168F19}"/>
              </a:ext>
            </a:extLst>
          </p:cNvPr>
          <p:cNvSpPr txBox="1"/>
          <p:nvPr/>
        </p:nvSpPr>
        <p:spPr>
          <a:xfrm>
            <a:off x="1371600" y="4983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1F344C"/>
                </a:solidFill>
              </a:rPr>
              <a:t>Churn-risk dashboard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98DF47-04C0-04B6-B568-F15102066DA8}"/>
              </a:ext>
            </a:extLst>
          </p:cNvPr>
          <p:cNvSpPr txBox="1"/>
          <p:nvPr/>
        </p:nvSpPr>
        <p:spPr>
          <a:xfrm>
            <a:off x="3657600" y="49834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D2D2D"/>
                </a:solidFill>
              </a:rPr>
              <a:t>Track high-risk segments and retention outcomes monthly.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9E4405-4C27-4121-BD21-1BF1CC7364A0}"/>
              </a:ext>
            </a:extLst>
          </p:cNvPr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344C"/>
                </a:solidFill>
              </a:rPr>
              <a:t>Goal: reduce avoidable churn, protect recurring revenue and build a measurable retention process.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F80194-8686-5E26-270C-FBA1BB73B33F}"/>
              </a:ext>
            </a:extLst>
          </p:cNvPr>
          <p:cNvSpPr txBox="1"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27884401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71</TotalTime>
  <Words>592</Words>
  <Application>Microsoft Office PowerPoint</Application>
  <PresentationFormat>Widescreen</PresentationFormat>
  <Paragraphs>96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Light</vt:lpstr>
      <vt:lpstr>Arial</vt:lpstr>
      <vt:lpstr>Walbaum Display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Nontethelelo Baleni</dc:creator>
  <cp:lastModifiedBy>Nontethelelo Baleni</cp:lastModifiedBy>
  <cp:revision>1</cp:revision>
  <dcterms:created xsi:type="dcterms:W3CDTF">2026-08-09T08:19:04Z</dcterms:created>
  <dcterms:modified xsi:type="dcterms:W3CDTF">2026-08-09T09:30:13Z</dcterms:modified>
</cp:coreProperties>
</file>